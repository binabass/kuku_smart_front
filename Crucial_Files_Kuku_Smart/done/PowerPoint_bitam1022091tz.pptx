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9" r:id="rId15"/>
    <p:sldId id="278" r:id="rId16"/>
    <p:sldId id="280" r:id="rId17"/>
    <p:sldId id="270" r:id="rId18"/>
    <p:sldId id="272" r:id="rId19"/>
    <p:sldId id="276" r:id="rId20"/>
    <p:sldId id="273" r:id="rId21"/>
    <p:sldId id="274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9144000" cy="1214755"/>
          </a:xfrm>
        </p:spPr>
        <p:txBody>
          <a:bodyPr>
            <a:normAutofit/>
          </a:bodyPr>
          <a:lstStyle/>
          <a:p>
            <a:r>
              <a:rPr lang="zh-CN" altLang="en-US" sz="4000"/>
              <a:t>🎓 Final Year Project </a:t>
            </a:r>
            <a:r>
              <a:rPr lang="en-US" altLang="zh-CN" sz="4000"/>
              <a:t>Design</a:t>
            </a:r>
            <a:endParaRPr lang="zh-CN" altLang="en-US" sz="40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2975610"/>
            <a:ext cx="9144000" cy="2282190"/>
          </a:xfrm>
        </p:spPr>
        <p:txBody>
          <a:bodyPr>
            <a:noAutofit/>
          </a:bodyPr>
          <a:lstStyle/>
          <a:p>
            <a:pPr algn="ctr"/>
            <a:r>
              <a:rPr lang="zh-CN" altLang="en-US" sz="1600">
                <a:sym typeface="+mn-ea"/>
              </a:rPr>
              <a:t>IoT-Based Smart Poultry Farm</a:t>
            </a:r>
            <a:endParaRPr lang="en-US" sz="1600" b="1">
              <a:sym typeface="+mn-ea"/>
            </a:endParaRPr>
          </a:p>
          <a:p>
            <a:pPr algn="l"/>
            <a:r>
              <a:rPr lang="en-US" sz="1600" b="1">
                <a:sym typeface="+mn-ea"/>
              </a:rPr>
              <a:t>Full name</a:t>
            </a:r>
            <a:r>
              <a:rPr lang="en-US" sz="1600">
                <a:sym typeface="+mn-ea"/>
              </a:rPr>
              <a:t>: Abdul-latif Abass Suleiman</a:t>
            </a:r>
            <a:endParaRPr lang="en-US" sz="1600"/>
          </a:p>
          <a:p>
            <a:pPr algn="l"/>
            <a:r>
              <a:rPr lang="en-US" sz="1600" b="1">
                <a:sym typeface="+mn-ea"/>
              </a:rPr>
              <a:t>Registration number</a:t>
            </a:r>
            <a:r>
              <a:rPr lang="en-US" sz="1600">
                <a:sym typeface="+mn-ea"/>
              </a:rPr>
              <a:t>: BITAM/10/22/091/TZ</a:t>
            </a:r>
            <a:endParaRPr lang="en-US" sz="1600"/>
          </a:p>
          <a:p>
            <a:pPr algn="l"/>
            <a:r>
              <a:rPr lang="en-US" sz="1600" b="1">
                <a:sym typeface="+mn-ea"/>
              </a:rPr>
              <a:t>Project title</a:t>
            </a:r>
            <a:r>
              <a:rPr lang="en-US" sz="1600">
                <a:sym typeface="+mn-ea"/>
              </a:rPr>
              <a:t>: IoT-Based Smart Poultry Farm</a:t>
            </a:r>
            <a:endParaRPr lang="en-US" sz="1600">
              <a:sym typeface="+mn-ea"/>
            </a:endParaRPr>
          </a:p>
          <a:p>
            <a:pPr algn="l"/>
            <a:r>
              <a:rPr lang="en-US" sz="1600" b="1">
                <a:sym typeface="+mn-ea"/>
              </a:rPr>
              <a:t>Supervisor name</a:t>
            </a:r>
            <a:r>
              <a:rPr lang="en-US" sz="1600">
                <a:sym typeface="+mn-ea"/>
              </a:rPr>
              <a:t>: Mr. Masoud Hamad Mmanga</a:t>
            </a:r>
            <a:endParaRPr 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720850"/>
          </a:xfrm>
        </p:spPr>
        <p:txBody>
          <a:bodyPr>
            <a:normAutofit fontScale="90000"/>
          </a:bodyPr>
          <a:p>
            <a:pPr algn="ctr"/>
            <a:r>
              <a:rPr lang="en-US"/>
              <a:t>Introduction</a:t>
            </a:r>
            <a:br>
              <a:rPr lang="en-US"/>
            </a:br>
            <a:r>
              <a:rPr lang="en-US"/>
              <a:t>IoT-Based Smart Poultry Farm</a:t>
            </a:r>
            <a:br>
              <a:rPr lang="en-US"/>
            </a:br>
            <a:br>
              <a:rPr lang="en-US"/>
            </a:br>
            <a:r>
              <a:rPr lang="en-US" b="0"/>
              <a:t>Digitizing Poultry Farming for Smart, Sustainable Agriculture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089150"/>
            <a:ext cx="10515600" cy="40881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500" b="1"/>
              <a:t>Problem</a:t>
            </a:r>
            <a:r>
              <a:rPr lang="en-US" sz="1500"/>
              <a:t>: Traditional poultry farming in Tanzania faces challenges like disease outbreaks, poor monitoring, high labor, and operational inefficiencies.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/>
              <a:t>Solution</a:t>
            </a:r>
            <a:r>
              <a:rPr lang="en-US" sz="1500"/>
              <a:t>: An integrated IoT and AI system for real-time monitoring, automation, and predictive analytics.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/>
              <a:t>Impact</a:t>
            </a:r>
            <a:r>
              <a:rPr lang="en-US" sz="1500"/>
              <a:t>: Increased productivity, reduced losses, better animal welfare, remote monitoring.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 u="sng"/>
              <a:t>Key Features</a:t>
            </a:r>
            <a:r>
              <a:rPr lang="en-US" sz="1500"/>
              <a:t>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Real-time environmental and poultry welfare data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AI-powered disease prediction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Automated feeding and watering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Dashboard for analytics and alerts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Feasibility Study 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1600" b="1"/>
              <a:t>Operational Feasibility</a:t>
            </a:r>
            <a:r>
              <a:rPr lang="en-US" sz="1600"/>
              <a:t>: Suitable for small to large farms; user-friendly mobile/web dashboard.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/>
              <a:t>Economic Feasibility</a:t>
            </a:r>
            <a:r>
              <a:rPr lang="en-US" sz="1600"/>
              <a:t>: Subscription model lowers cost for small farmers; long-term operational savings.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/>
              <a:t>Technical Feasibility</a:t>
            </a:r>
            <a:r>
              <a:rPr lang="en-US" sz="1600"/>
              <a:t>: Uses existing microcontroller + IoT tech (Arduino/RPi, sensors, Firebase).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b="1"/>
              <a:t>Legal Feasibility</a:t>
            </a:r>
            <a:r>
              <a:rPr lang="en-US" sz="1600"/>
              <a:t>: Compliant with agricultural safety, local ICT/data regulations.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Project 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b="1"/>
              <a:t>Approach</a:t>
            </a:r>
            <a:r>
              <a:rPr lang="en-US"/>
              <a:t>: Agile development with iterative prototyping and user testing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/>
              <a:t>Key Phases</a:t>
            </a:r>
            <a:r>
              <a:rPr lang="en-US"/>
              <a:t>:</a:t>
            </a:r>
            <a:endParaRPr lang="en-US"/>
          </a:p>
          <a:p>
            <a:pPr>
              <a:buFont typeface="Arial" panose="02080604020202020204" pitchFamily="34" charset="0"/>
              <a:buChar char="•"/>
            </a:pPr>
            <a:r>
              <a:rPr lang="en-US"/>
              <a:t>Requirement analysis with local poultry farmers</a:t>
            </a:r>
            <a:endParaRPr lang="en-US"/>
          </a:p>
          <a:p>
            <a:pPr>
              <a:buFont typeface="Arial" panose="02080604020202020204" pitchFamily="34" charset="0"/>
              <a:buChar char="•"/>
            </a:pPr>
            <a:r>
              <a:rPr lang="en-US"/>
              <a:t>System design (hardware + software + AI)</a:t>
            </a:r>
            <a:endParaRPr lang="en-US"/>
          </a:p>
          <a:p>
            <a:pPr>
              <a:buFont typeface="Arial" panose="02080604020202020204" pitchFamily="34" charset="0"/>
              <a:buChar char="•"/>
            </a:pPr>
            <a:r>
              <a:rPr lang="en-US"/>
              <a:t>Development &amp; integration (sensors, control, dashboard)</a:t>
            </a:r>
            <a:endParaRPr lang="en-US"/>
          </a:p>
          <a:p>
            <a:pPr>
              <a:buFont typeface="Arial" panose="02080604020202020204" pitchFamily="34" charset="0"/>
              <a:buChar char="•"/>
            </a:pPr>
            <a:r>
              <a:rPr lang="en-US"/>
              <a:t>Field simulation/testing</a:t>
            </a:r>
            <a:endParaRPr lang="en-US"/>
          </a:p>
          <a:p>
            <a:pPr>
              <a:buFont typeface="Arial" panose="02080604020202020204" pitchFamily="34" charset="0"/>
              <a:buChar char="•"/>
            </a:pPr>
            <a:r>
              <a:rPr lang="en-US"/>
              <a:t>Final report &amp; documentation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Hardware</a:t>
            </a:r>
            <a:r>
              <a:rPr lang="en-US"/>
              <a:t>: Arduino, DHT11, MQ135, LDR, motors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Backend</a:t>
            </a:r>
            <a:r>
              <a:rPr lang="en-US"/>
              <a:t>: Django / Postgre(data logging, alerts)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Frontend</a:t>
            </a:r>
            <a:r>
              <a:rPr lang="en-US"/>
              <a:t>: Web app using React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AI Module</a:t>
            </a:r>
            <a:r>
              <a:rPr lang="en-US"/>
              <a:t>: Python (scikit-learn for disease prediction)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Testing Tools</a:t>
            </a:r>
            <a:r>
              <a:rPr lang="en-US"/>
              <a:t>: Postman, breadboard simulations, cloud testing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Functional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b="1" u="sng"/>
              <a:t>Core Features</a:t>
            </a:r>
            <a:r>
              <a:rPr lang="en-US"/>
              <a:t>:</a:t>
            </a:r>
            <a:endParaRPr lang="en-US"/>
          </a:p>
          <a:p>
            <a:pPr marL="457200" indent="-457200">
              <a:buFont typeface="+mj-lt"/>
              <a:buAutoNum type="romanLcPeriod"/>
            </a:pPr>
            <a:r>
              <a:rPr lang="en-US"/>
              <a:t>Sensor-based real-time environmental monitoring</a:t>
            </a:r>
            <a:endParaRPr lang="en-US"/>
          </a:p>
          <a:p>
            <a:pPr marL="457200" indent="-457200">
              <a:buFont typeface="+mj-lt"/>
              <a:buAutoNum type="romanLcPeriod"/>
            </a:pPr>
            <a:r>
              <a:rPr lang="en-US"/>
              <a:t>Feeding/watering automation</a:t>
            </a:r>
            <a:endParaRPr lang="en-US"/>
          </a:p>
          <a:p>
            <a:pPr marL="457200" indent="-457200">
              <a:buFont typeface="+mj-lt"/>
              <a:buAutoNum type="romanLcPeriod"/>
            </a:pPr>
            <a:r>
              <a:rPr lang="en-US"/>
              <a:t>AI-based early disease detection</a:t>
            </a:r>
            <a:endParaRPr lang="en-US"/>
          </a:p>
          <a:p>
            <a:pPr marL="457200" indent="-457200">
              <a:buFont typeface="+mj-lt"/>
              <a:buAutoNum type="romanLcPeriod"/>
            </a:pPr>
            <a:r>
              <a:rPr lang="en-US"/>
              <a:t>Web dashboard with visual alerts</a:t>
            </a:r>
            <a:endParaRPr lang="en-US"/>
          </a:p>
          <a:p>
            <a:pPr marL="457200" indent="-457200">
              <a:buFont typeface="+mj-lt"/>
              <a:buAutoNum type="romanLcPeriod"/>
            </a:pPr>
            <a:r>
              <a:rPr lang="en-US"/>
              <a:t>Reports on productivity and performance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Non-Functional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Performance</a:t>
            </a:r>
            <a:r>
              <a:rPr lang="en-US"/>
              <a:t>: Real-time updates (&lt;5 seconds latency)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Reliability</a:t>
            </a:r>
            <a:r>
              <a:rPr lang="en-US"/>
              <a:t>: Sensor uptime &gt;98%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Security</a:t>
            </a:r>
            <a:r>
              <a:rPr lang="en-US"/>
              <a:t>: Role-based access, secure API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Usability</a:t>
            </a:r>
            <a:r>
              <a:rPr lang="en-US"/>
              <a:t>: Simple interface for farmers with low tech skills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Compatibility</a:t>
            </a:r>
            <a:r>
              <a:rPr lang="en-US"/>
              <a:t>: Mobile, tablet, desktop browser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Automation &amp; Dashboard Interface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Responsive dashboard</a:t>
            </a:r>
            <a:r>
              <a:rPr lang="en-US"/>
              <a:t>: Real-time sensor graphs, control toggles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Notifications</a:t>
            </a:r>
            <a:r>
              <a:rPr lang="en-US"/>
              <a:t>: Alerts for abnormal readings (e.g., high temp, poor air)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Manual Override</a:t>
            </a:r>
            <a:r>
              <a:rPr lang="en-US"/>
              <a:t>: Activate/deactivate feeders and fans remotely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Analytics</a:t>
            </a:r>
            <a:r>
              <a:rPr lang="en-US"/>
              <a:t>: Historical trends and cost analysis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58520"/>
          </a:xfrm>
        </p:spPr>
        <p:txBody>
          <a:bodyPr/>
          <a:p>
            <a:pPr algn="ctr"/>
            <a:r>
              <a:rPr lang="en-US"/>
              <a:t>Use Case Diagram – </a:t>
            </a:r>
            <a:r>
              <a:rPr lang="en-US" b="0"/>
              <a:t>System Interactions</a:t>
            </a:r>
            <a:endParaRPr lang="en-US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16965"/>
            <a:ext cx="10515600" cy="522795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sz="6400" b="1" u="sng"/>
              <a:t>Actors</a:t>
            </a:r>
            <a:r>
              <a:rPr lang="en-US" sz="6400"/>
              <a:t>:</a:t>
            </a:r>
            <a:endParaRPr lang="en-US" sz="6400"/>
          </a:p>
          <a:p>
            <a:pPr marL="0" indent="0">
              <a:buNone/>
            </a:pPr>
            <a:r>
              <a:rPr lang="en-US" sz="6400" b="1"/>
              <a:t>Farmer </a:t>
            </a:r>
            <a:r>
              <a:rPr lang="en-US" sz="6400"/>
              <a:t>– Monitors the farm, records activities, views alerts, and manages subscriptions.</a:t>
            </a:r>
            <a:endParaRPr lang="en-US" sz="6400"/>
          </a:p>
          <a:p>
            <a:pPr marL="0" indent="0">
              <a:buNone/>
            </a:pPr>
            <a:r>
              <a:rPr lang="en-US" sz="6400" b="1"/>
              <a:t>System Admin</a:t>
            </a:r>
            <a:r>
              <a:rPr lang="en-US" sz="6400"/>
              <a:t> – Manages device configurations and monitors performance.</a:t>
            </a:r>
            <a:endParaRPr lang="en-US" sz="6400"/>
          </a:p>
          <a:p>
            <a:pPr marL="0" indent="0">
              <a:buNone/>
            </a:pPr>
            <a:r>
              <a:rPr lang="en-US" sz="6400" b="1"/>
              <a:t>Device Node</a:t>
            </a:r>
            <a:r>
              <a:rPr lang="en-US" sz="6400"/>
              <a:t> – Sends sensor data to the cloud.</a:t>
            </a:r>
            <a:endParaRPr lang="en-US" sz="6400"/>
          </a:p>
          <a:p>
            <a:pPr marL="0" indent="0">
              <a:buNone/>
            </a:pPr>
            <a:endParaRPr lang="en-US" sz="6400"/>
          </a:p>
          <a:p>
            <a:pPr marL="0" indent="0">
              <a:buNone/>
            </a:pPr>
            <a:r>
              <a:rPr lang="en-US" sz="6400" b="1" u="sng">
                <a:sym typeface="+mn-ea"/>
              </a:rPr>
              <a:t>Use Cases</a:t>
            </a:r>
            <a:r>
              <a:rPr lang="en-US" sz="6400">
                <a:sym typeface="+mn-ea"/>
              </a:rPr>
              <a:t>:</a:t>
            </a:r>
            <a:endParaRPr lang="en-US" sz="6400"/>
          </a:p>
          <a:p>
            <a:r>
              <a:rPr lang="en-US" sz="6400">
                <a:sym typeface="+mn-ea"/>
              </a:rPr>
              <a:t>Login/Register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View Dashboard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Monitor Sensor Data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Receive Alerts &amp; Recommendations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Record Feeding Activity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Schedule Batch Activities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View Reports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Manage Farm Devices (Admin only)</a:t>
            </a:r>
            <a:endParaRPr lang="en-US" sz="6400">
              <a:sym typeface="+mn-ea"/>
            </a:endParaRPr>
          </a:p>
          <a:p>
            <a:r>
              <a:rPr lang="en-US" sz="6400">
                <a:sym typeface="+mn-ea"/>
              </a:rPr>
              <a:t>Subscribe to Plans</a:t>
            </a:r>
            <a:endParaRPr lang="en-US" sz="6400"/>
          </a:p>
          <a:p>
            <a:pPr marL="0" indent="0">
              <a:buNone/>
            </a:pPr>
            <a:endParaRPr lang="en-US" sz="6400"/>
          </a:p>
          <a:p>
            <a:pPr marL="0" indent="0">
              <a:buNone/>
            </a:pPr>
            <a:endParaRPr lang="en-US" sz="6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193165"/>
          </a:xfrm>
        </p:spPr>
        <p:txBody>
          <a:bodyPr/>
          <a:p>
            <a:pPr algn="ctr"/>
            <a:r>
              <a:rPr lang="en-US"/>
              <a:t>Use Case Diagram (Visual)</a:t>
            </a:r>
            <a:endParaRPr lang="en-US"/>
          </a:p>
        </p:txBody>
      </p:sp>
      <p:pic>
        <p:nvPicPr>
          <p:cNvPr id="4" name="Content Placeholder 3" descr="usecas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09340" y="1785620"/>
            <a:ext cx="4973320" cy="4592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ym typeface="+mn-ea"/>
              </a:rPr>
              <a:t>Class Diagram – </a:t>
            </a:r>
            <a:r>
              <a:rPr lang="en-US" b="0">
                <a:sym typeface="+mn-ea"/>
              </a:rPr>
              <a:t>System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42770"/>
            <a:ext cx="10515600" cy="4351338"/>
          </a:xfrm>
        </p:spPr>
        <p:txBody>
          <a:bodyPr>
            <a:normAutofit fontScale="35000"/>
          </a:bodyPr>
          <a:p>
            <a:pPr marL="0" indent="0">
              <a:buNone/>
            </a:pPr>
            <a:r>
              <a:rPr lang="en-US" sz="6400" b="1" u="sng"/>
              <a:t>Main Classes</a:t>
            </a:r>
            <a:r>
              <a:rPr lang="en-US" sz="6400"/>
              <a:t>:</a:t>
            </a:r>
            <a:endParaRPr lang="en-US" sz="6400"/>
          </a:p>
          <a:p>
            <a:r>
              <a:rPr lang="en-US" sz="6400" b="1"/>
              <a:t>Farmer</a:t>
            </a:r>
            <a:r>
              <a:rPr lang="en-US" sz="6400"/>
              <a:t>: Manages personal farm and subscriptions</a:t>
            </a:r>
            <a:endParaRPr lang="en-US" sz="6400"/>
          </a:p>
          <a:p>
            <a:r>
              <a:rPr lang="en-US" sz="6400" b="1"/>
              <a:t>Farm</a:t>
            </a:r>
            <a:r>
              <a:rPr lang="en-US" sz="6400"/>
              <a:t>: Contains all data about location, name, and associated devices</a:t>
            </a:r>
            <a:endParaRPr lang="en-US" sz="6400"/>
          </a:p>
          <a:p>
            <a:r>
              <a:rPr lang="en-US" sz="6400" b="1"/>
              <a:t>Batch</a:t>
            </a:r>
            <a:r>
              <a:rPr lang="en-US" sz="6400"/>
              <a:t>: Contains poultry data (age, breed, arrival) and manages feeding &amp; activities</a:t>
            </a:r>
            <a:endParaRPr lang="en-US" sz="6400"/>
          </a:p>
          <a:p>
            <a:r>
              <a:rPr lang="en-US" sz="6400" b="1"/>
              <a:t>Breed</a:t>
            </a:r>
            <a:r>
              <a:rPr lang="en-US" sz="6400"/>
              <a:t>: Classification of chickens (linked to feeding and growth logic)</a:t>
            </a:r>
            <a:endParaRPr lang="en-US" sz="6400"/>
          </a:p>
          <a:p>
            <a:r>
              <a:rPr lang="en-US" sz="6400" b="1"/>
              <a:t>Device</a:t>
            </a:r>
            <a:r>
              <a:rPr lang="en-US" sz="6400"/>
              <a:t>: IoT hardware associated with each farm</a:t>
            </a:r>
            <a:endParaRPr lang="en-US" sz="6400"/>
          </a:p>
          <a:p>
            <a:r>
              <a:rPr lang="en-US" sz="6400" b="1"/>
              <a:t>Sensor</a:t>
            </a:r>
            <a:r>
              <a:rPr lang="en-US" sz="6400"/>
              <a:t>: Reads environment values; tied to devices</a:t>
            </a:r>
            <a:endParaRPr lang="en-US" sz="6400"/>
          </a:p>
          <a:p>
            <a:r>
              <a:rPr lang="en-US" sz="6400" b="1"/>
              <a:t>Subscription</a:t>
            </a:r>
            <a:r>
              <a:rPr lang="en-US" sz="6400"/>
              <a:t>: Plan subscribed by farmer</a:t>
            </a:r>
            <a:endParaRPr lang="en-US" sz="6400"/>
          </a:p>
          <a:p>
            <a:r>
              <a:rPr lang="en-US" sz="6400" b="1"/>
              <a:t>AlertEngine</a:t>
            </a:r>
            <a:r>
              <a:rPr lang="en-US" sz="6400"/>
              <a:t>: Analyzes sensor data and provides alerts</a:t>
            </a:r>
            <a:endParaRPr lang="en-US" sz="6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ym typeface="+mn-ea"/>
              </a:rPr>
              <a:t>Class Diagram (Visual)</a:t>
            </a:r>
            <a:endParaRPr lang="en-US"/>
          </a:p>
        </p:txBody>
      </p:sp>
      <p:pic>
        <p:nvPicPr>
          <p:cNvPr id="4" name="Content Placeholder 3" descr="class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5145" y="1758315"/>
            <a:ext cx="7616190" cy="4552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ym typeface="+mn-ea"/>
              </a:rPr>
              <a:t>ERD – </a:t>
            </a:r>
            <a:r>
              <a:rPr lang="en-US" b="0">
                <a:sym typeface="+mn-ea"/>
              </a:rPr>
              <a:t>Data Model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647700" y="1825625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705"/>
                <a:gridCol w="741489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Entity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Description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farmers_tb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Stores farmer account information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farm_tb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Links farms to specific farmers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batches_tb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Represents a batch of poultry on a farm, linked to a breed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breed_tb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Stores poultry breed details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breed_type_tb	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Classifies breeds as egg/meat types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devices_tb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IoT devices deployed per farm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sensors_tb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Readings from each device (linked by sensor type and device)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batch_activity_tb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Activities performed on a batch (vaccination, inspection, etc.)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activity_type_tb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Lookup for activity types (e.g., cleaning, vaccine)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breed_activities_tb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Expected breed-specific activities based on age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breed_conditions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Optimal environmental conditions for each breed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6" name="Content Placeholder 5"/>
          <p:cNvGraphicFramePr/>
          <p:nvPr>
            <p:ph idx="1"/>
          </p:nvPr>
        </p:nvGraphicFramePr>
        <p:xfrm>
          <a:off x="647700" y="1825625"/>
          <a:ext cx="105156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340"/>
                <a:gridCol w="67792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Entity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Description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condition_type_tb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Types of environmental parameters (temperature, humidity)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batch_feeding_tb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Records of actual feed given to batches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breed_feeding_tb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Ideal feed schedule per breed and age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food_type_tb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Food types available (e.g., starter crumble)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farmers_subscription_tb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Links a farmer to a subscription plan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subsription_tb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Subscription plans with costs and services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subscription_resources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Resources/features provided per subscription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farmer_subscription_resources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Mapping between subscriptions and allocated resources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farmer_subscription_payment_tb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Payment details for subscription plans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users_tb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Authentication and user role management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ym typeface="+mn-ea"/>
              </a:rPr>
              <a:t>Class Diagram (Visual)</a:t>
            </a:r>
            <a:endParaRPr lang="en-US"/>
          </a:p>
        </p:txBody>
      </p:sp>
      <p:pic>
        <p:nvPicPr>
          <p:cNvPr id="4" name="Content Placeholder 3" descr="e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18155" y="1825625"/>
            <a:ext cx="57740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System Architecture Diagram</a:t>
            </a:r>
            <a:endParaRPr lang="en-US"/>
          </a:p>
        </p:txBody>
      </p:sp>
      <p:pic>
        <p:nvPicPr>
          <p:cNvPr id="5" name="Content Placeholder 4" descr="architec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8065" y="2067560"/>
            <a:ext cx="97536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/>
              <a:t>Sequence Diagram – Monitoring Flow</a:t>
            </a:r>
            <a:br>
              <a:rPr lang="en-US"/>
            </a:br>
            <a:r>
              <a:rPr lang="en-US" b="0">
                <a:sym typeface="+mn-ea"/>
              </a:rPr>
              <a:t>Recording Batch Activity with AI Alerts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 marL="0" indent="0">
              <a:buNone/>
            </a:pPr>
            <a:r>
              <a:rPr lang="en-US" sz="6400" b="1" u="sng"/>
              <a:t>Description</a:t>
            </a:r>
            <a:r>
              <a:rPr lang="en-US" sz="6400"/>
              <a:t>:</a:t>
            </a:r>
            <a:endParaRPr lang="en-US" sz="6400"/>
          </a:p>
          <a:p>
            <a:pPr marL="0" indent="0">
              <a:buNone/>
            </a:pPr>
            <a:r>
              <a:rPr lang="en-US" sz="6400"/>
              <a:t>This sequence shows how a farmer logs a batch activity and how the system checks environmental and breed-specific thresholds to trigger alerts.</a:t>
            </a:r>
            <a:endParaRPr lang="en-US" sz="6400"/>
          </a:p>
          <a:p>
            <a:pPr marL="0" indent="0">
              <a:buNone/>
            </a:pPr>
            <a:endParaRPr lang="en-US" sz="6400"/>
          </a:p>
          <a:p>
            <a:pPr marL="0" indent="0">
              <a:buNone/>
            </a:pPr>
            <a:r>
              <a:rPr lang="en-US" sz="6400" b="1" u="sng"/>
              <a:t>Flow</a:t>
            </a:r>
            <a:r>
              <a:rPr lang="en-US" sz="6400"/>
              <a:t>: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Farmer submits a new batch activity via dashboard.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API Server stores the activity in the batch_activity_tb.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Server passes the data to the AI engine.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AI checks sensor readings against breed_conditions.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If abnormalities are detected (e.g., low temperature), an alert is raised.</a:t>
            </a:r>
            <a:endParaRPr lang="en-US" sz="6400"/>
          </a:p>
          <a:p>
            <a:pPr marL="457200" indent="-457200">
              <a:buFont typeface="+mj-lt"/>
              <a:buAutoNum type="arabicParenR"/>
            </a:pPr>
            <a:r>
              <a:rPr lang="en-US" sz="6400"/>
              <a:t>Farmer receives an alert with recommendations or confirmation of normal logging.</a:t>
            </a:r>
            <a:endParaRPr lang="en-US" sz="6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ym typeface="+mn-ea"/>
              </a:rPr>
              <a:t>Sequence Diagram (Visual)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seque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9675" y="1825625"/>
            <a:ext cx="96412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Deployment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Devices deployed on local farm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Data stored in cloud (Firebase or AWS)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Web App runs on browser/mobile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Dashboard connected to AI engine and actuator control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Relational Data Model</a:t>
            </a:r>
            <a:endParaRPr lang="en-US"/>
          </a:p>
        </p:txBody>
      </p:sp>
      <p:pic>
        <p:nvPicPr>
          <p:cNvPr id="4" name="Content Placeholder 3" descr="smartE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388870"/>
            <a:ext cx="10515600" cy="3224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5641</Words>
  <Application>WPS Presentation</Application>
  <PresentationFormat>宽屏</PresentationFormat>
  <Paragraphs>248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SimSun</vt:lpstr>
      <vt:lpstr>Noto Sans Symbols 2</vt:lpstr>
      <vt:lpstr>Droid Sans Ethiopic</vt:lpstr>
      <vt:lpstr>Liberation Serif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binos</cp:lastModifiedBy>
  <cp:revision>52</cp:revision>
  <dcterms:created xsi:type="dcterms:W3CDTF">2025-06-20T12:30:14Z</dcterms:created>
  <dcterms:modified xsi:type="dcterms:W3CDTF">2025-06-20T12:30:14Z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1033-11.1.0.11719</vt:lpwstr>
  </property>
  <property fmtid="{D5CDD505-2E9C-101B-9397-08002B2CF9AE}" pid="3" name="ICV">
    <vt:lpwstr/>
  </property>
</Properties>
</file>